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Neo Tech" panose="020B0604020202020204" charset="0"/>
      <p:regular r:id="rId15"/>
    </p:embeddedFont>
    <p:embeddedFont>
      <p:font typeface="Neo Tech Bold" panose="020B0604020202020204" charset="0"/>
      <p:regular r:id="rId16"/>
    </p:embeddedFont>
    <p:embeddedFont>
      <p:font typeface="Rosario" panose="020B0604020202020204" charset="0"/>
      <p:regular r:id="rId17"/>
    </p:embeddedFont>
    <p:embeddedFont>
      <p:font typeface="Rosario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9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734021" y="-2137140"/>
            <a:ext cx="2128978" cy="5746713"/>
            <a:chOff x="0" y="0"/>
            <a:chExt cx="560719" cy="15135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0719" cy="1513538"/>
            </a:xfrm>
            <a:custGeom>
              <a:avLst/>
              <a:gdLst/>
              <a:ahLst/>
              <a:cxnLst/>
              <a:rect l="l" t="t" r="r" b="b"/>
              <a:pathLst>
                <a:path w="560719" h="1513538">
                  <a:moveTo>
                    <a:pt x="0" y="0"/>
                  </a:moveTo>
                  <a:lnTo>
                    <a:pt x="560719" y="0"/>
                  </a:lnTo>
                  <a:lnTo>
                    <a:pt x="560719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60719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060907" y="7412447"/>
            <a:ext cx="3083093" cy="604374"/>
            <a:chOff x="0" y="0"/>
            <a:chExt cx="812008" cy="1591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008" cy="159177"/>
            </a:xfrm>
            <a:custGeom>
              <a:avLst/>
              <a:gdLst/>
              <a:ahLst/>
              <a:cxnLst/>
              <a:rect l="l" t="t" r="r" b="b"/>
              <a:pathLst>
                <a:path w="812008" h="159177">
                  <a:moveTo>
                    <a:pt x="0" y="0"/>
                  </a:moveTo>
                  <a:lnTo>
                    <a:pt x="812008" y="0"/>
                  </a:lnTo>
                  <a:lnTo>
                    <a:pt x="812008" y="159177"/>
                  </a:lnTo>
                  <a:lnTo>
                    <a:pt x="0" y="159177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812008" cy="1972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14241" y="4240380"/>
            <a:ext cx="6748758" cy="3776440"/>
            <a:chOff x="0" y="0"/>
            <a:chExt cx="1045559" cy="5850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5559" cy="585069"/>
            </a:xfrm>
            <a:custGeom>
              <a:avLst/>
              <a:gdLst/>
              <a:ahLst/>
              <a:cxnLst/>
              <a:rect l="l" t="t" r="r" b="b"/>
              <a:pathLst>
                <a:path w="1045559" h="585069">
                  <a:moveTo>
                    <a:pt x="0" y="0"/>
                  </a:moveTo>
                  <a:lnTo>
                    <a:pt x="1045559" y="0"/>
                  </a:lnTo>
                  <a:lnTo>
                    <a:pt x="1045559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3"/>
              <a:stretch>
                <a:fillRect l="-5809" t="-12464" b="-13709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613698" y="1316322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5" y="0"/>
                </a:lnTo>
                <a:lnTo>
                  <a:pt x="2505345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13698" y="2544604"/>
            <a:ext cx="3667996" cy="8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9"/>
              </a:lnSpc>
            </a:pPr>
            <a:r>
              <a:rPr lang="en-US" sz="4557">
                <a:solidFill>
                  <a:srgbClr val="00004D"/>
                </a:solidFill>
                <a:latin typeface="Neo Tech"/>
                <a:ea typeface="Neo Tech"/>
                <a:cs typeface="Neo Tech"/>
                <a:sym typeface="Neo Tech"/>
              </a:rPr>
              <a:t>PRESENTASI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3698" y="2947475"/>
            <a:ext cx="6962675" cy="1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7"/>
              </a:lnSpc>
            </a:pPr>
            <a:r>
              <a:rPr lang="en-US" sz="7698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TUGAS AKHIR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13698" y="4762815"/>
            <a:ext cx="7323622" cy="166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sz="2597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"Pengembangan Sistem Monitoring Penerbangan Real-Time Berbasis ADS-B dan Radar Cuaca Menggunakan Arsitektur Sistem Basis Data Terdistribusi pada Platform WebGIS"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4241" y="8840038"/>
            <a:ext cx="6748758" cy="9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79"/>
              </a:lnSpc>
            </a:pPr>
            <a:r>
              <a:rPr lang="en-US" sz="2700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 Teknik Informatika</a:t>
            </a:r>
          </a:p>
          <a:p>
            <a:pPr algn="r">
              <a:lnSpc>
                <a:spcPts val="3779"/>
              </a:lnSpc>
            </a:pPr>
            <a:r>
              <a:rPr lang="en-US" sz="2700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 Universitas Esa Unggul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8422338"/>
            <a:ext cx="5672771" cy="50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932" b="1">
                <a:solidFill>
                  <a:srgbClr val="00004D"/>
                </a:solidFill>
                <a:latin typeface="Rosario Bold"/>
                <a:ea typeface="Rosario Bold"/>
                <a:cs typeface="Rosario Bold"/>
                <a:sym typeface="Rosario Bold"/>
              </a:rPr>
              <a:t>MUHAMMAD FRIS SETIAWAN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39222" y="7496027"/>
            <a:ext cx="2926464" cy="40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FFFFF"/>
                </a:solidFill>
                <a:latin typeface="Rosario Bold"/>
                <a:ea typeface="Rosario Bold"/>
                <a:cs typeface="Rosario Bold"/>
                <a:sym typeface="Rosario Bold"/>
              </a:rPr>
              <a:t>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709761" y="9258300"/>
            <a:ext cx="10093520" cy="1633031"/>
            <a:chOff x="0" y="0"/>
            <a:chExt cx="2658376" cy="430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58376" cy="430099"/>
            </a:xfrm>
            <a:custGeom>
              <a:avLst/>
              <a:gdLst/>
              <a:ahLst/>
              <a:cxnLst/>
              <a:rect l="l" t="t" r="r" b="b"/>
              <a:pathLst>
                <a:path w="2658376" h="430099">
                  <a:moveTo>
                    <a:pt x="0" y="0"/>
                  </a:moveTo>
                  <a:lnTo>
                    <a:pt x="2658376" y="0"/>
                  </a:lnTo>
                  <a:lnTo>
                    <a:pt x="2658376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658376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3854504"/>
            <a:ext cx="6692687" cy="7036827"/>
            <a:chOff x="0" y="0"/>
            <a:chExt cx="1036872" cy="10901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36872" cy="1090189"/>
            </a:xfrm>
            <a:custGeom>
              <a:avLst/>
              <a:gdLst/>
              <a:ahLst/>
              <a:cxnLst/>
              <a:rect l="l" t="t" r="r" b="b"/>
              <a:pathLst>
                <a:path w="1036872" h="1090189">
                  <a:moveTo>
                    <a:pt x="0" y="0"/>
                  </a:moveTo>
                  <a:lnTo>
                    <a:pt x="1036872" y="0"/>
                  </a:lnTo>
                  <a:lnTo>
                    <a:pt x="1036872" y="1090189"/>
                  </a:lnTo>
                  <a:lnTo>
                    <a:pt x="0" y="1090189"/>
                  </a:lnTo>
                  <a:close/>
                </a:path>
              </a:pathLst>
            </a:custGeom>
            <a:blipFill>
              <a:blip r:embed="rId3"/>
              <a:stretch>
                <a:fillRect l="-28784" r="-28784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694218" y="-2137140"/>
            <a:ext cx="3187564" cy="7003878"/>
            <a:chOff x="0" y="0"/>
            <a:chExt cx="839523" cy="18446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9523" cy="1844643"/>
            </a:xfrm>
            <a:custGeom>
              <a:avLst/>
              <a:gdLst/>
              <a:ahLst/>
              <a:cxnLst/>
              <a:rect l="l" t="t" r="r" b="b"/>
              <a:pathLst>
                <a:path w="839523" h="1844643">
                  <a:moveTo>
                    <a:pt x="0" y="0"/>
                  </a:moveTo>
                  <a:lnTo>
                    <a:pt x="839523" y="0"/>
                  </a:lnTo>
                  <a:lnTo>
                    <a:pt x="839523" y="1844643"/>
                  </a:lnTo>
                  <a:lnTo>
                    <a:pt x="0" y="1844643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39523" cy="1882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709761" y="1759764"/>
            <a:ext cx="6452155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LATAR BELAKANG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4195775"/>
            <a:ext cx="4501855" cy="539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STUDI PERMASALAHAN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09761" y="4888101"/>
            <a:ext cx="7984457" cy="2331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2796" lvl="1" indent="-226398" algn="l">
              <a:lnSpc>
                <a:spcPts val="2684"/>
              </a:lnSpc>
              <a:buFont typeface="Arial"/>
              <a:buChar char="•"/>
            </a:pPr>
            <a:r>
              <a:rPr lang="en-US" sz="2097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Data penerbangan (ADS-B) dan data cuaca (Radar BMKG) berada pada sistem yang berbeda.</a:t>
            </a:r>
          </a:p>
          <a:p>
            <a:pPr marL="452796" lvl="1" indent="-226398" algn="l">
              <a:lnSpc>
                <a:spcPts val="2684"/>
              </a:lnSpc>
              <a:buFont typeface="Arial"/>
              <a:buChar char="•"/>
            </a:pPr>
            <a:r>
              <a:rPr lang="en-US" sz="2097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Operator harus membuka beberapa aplikasi untuk memperoleh informasi secara lengkap.</a:t>
            </a:r>
          </a:p>
          <a:p>
            <a:pPr marL="452796" lvl="1" indent="-226398" algn="l">
              <a:lnSpc>
                <a:spcPts val="2684"/>
              </a:lnSpc>
              <a:buFont typeface="Arial"/>
              <a:buChar char="•"/>
            </a:pPr>
            <a:r>
              <a:rPr lang="en-US" sz="2097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Kondisi tersebut menyebabkan monitoring kurang efisien dan memperlambat pengambilan keputusan.</a:t>
            </a:r>
          </a:p>
          <a:p>
            <a:pPr algn="l">
              <a:lnSpc>
                <a:spcPts val="2684"/>
              </a:lnSpc>
            </a:pPr>
            <a:endParaRPr lang="en-US" sz="2097">
              <a:solidFill>
                <a:srgbClr val="00004D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312054" y="7543239"/>
            <a:ext cx="6217047" cy="1098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Monitoring kurang efisien.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Proses analisis menjadi lebih lambat.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Pengambilan keputusan menjadi kurang optimal.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649877" y="2246229"/>
            <a:ext cx="5458209" cy="3054280"/>
            <a:chOff x="0" y="0"/>
            <a:chExt cx="1045559" cy="5850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5559" cy="585069"/>
            </a:xfrm>
            <a:custGeom>
              <a:avLst/>
              <a:gdLst/>
              <a:ahLst/>
              <a:cxnLst/>
              <a:rect l="l" t="t" r="r" b="b"/>
              <a:pathLst>
                <a:path w="1045559" h="585069">
                  <a:moveTo>
                    <a:pt x="0" y="0"/>
                  </a:moveTo>
                  <a:lnTo>
                    <a:pt x="1045559" y="0"/>
                  </a:lnTo>
                  <a:lnTo>
                    <a:pt x="1045559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3"/>
              <a:stretch>
                <a:fillRect t="-2342" b="-1694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649877" y="5494900"/>
            <a:ext cx="5458209" cy="3054280"/>
            <a:chOff x="0" y="0"/>
            <a:chExt cx="1045559" cy="5850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5559" cy="585069"/>
            </a:xfrm>
            <a:custGeom>
              <a:avLst/>
              <a:gdLst/>
              <a:ahLst/>
              <a:cxnLst/>
              <a:rect l="l" t="t" r="r" b="b"/>
              <a:pathLst>
                <a:path w="1045559" h="585069">
                  <a:moveTo>
                    <a:pt x="0" y="0"/>
                  </a:moveTo>
                  <a:lnTo>
                    <a:pt x="1045559" y="0"/>
                  </a:lnTo>
                  <a:lnTo>
                    <a:pt x="1045559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4"/>
              <a:stretch>
                <a:fillRect b="-1906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7259300" y="-251814"/>
            <a:ext cx="2128978" cy="5746713"/>
            <a:chOff x="0" y="0"/>
            <a:chExt cx="560719" cy="151353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719" cy="1513538"/>
            </a:xfrm>
            <a:custGeom>
              <a:avLst/>
              <a:gdLst/>
              <a:ahLst/>
              <a:cxnLst/>
              <a:rect l="l" t="t" r="r" b="b"/>
              <a:pathLst>
                <a:path w="560719" h="1513538">
                  <a:moveTo>
                    <a:pt x="0" y="0"/>
                  </a:moveTo>
                  <a:lnTo>
                    <a:pt x="560719" y="0"/>
                  </a:lnTo>
                  <a:lnTo>
                    <a:pt x="560719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60719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209357"/>
            <a:ext cx="7884965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RUMUSAN MASALAH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7869" y="3537275"/>
            <a:ext cx="9590394" cy="160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97" lvl="1" indent="-272198" algn="l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Bagaimana mengintegrasikan data ADS-B dan Radar Cuaca?</a:t>
            </a:r>
          </a:p>
          <a:p>
            <a:pPr marL="544397" lvl="1" indent="-272198" algn="l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Bagaimana menerapkan konsep Sistem Basis Data Terdistribusi?</a:t>
            </a:r>
          </a:p>
          <a:p>
            <a:pPr marL="544397" lvl="1" indent="-272198" algn="l">
              <a:lnSpc>
                <a:spcPts val="3227"/>
              </a:lnSpc>
              <a:buFont typeface="Arial"/>
              <a:buChar char="•"/>
            </a:pPr>
            <a:r>
              <a:rPr lang="en-US" sz="2521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Bagaimana merancang prototype WebGIS yang terintegrasi?</a:t>
            </a:r>
          </a:p>
          <a:p>
            <a:pPr algn="l">
              <a:lnSpc>
                <a:spcPts val="3227"/>
              </a:lnSpc>
            </a:pPr>
            <a:endParaRPr lang="en-US" sz="2521">
              <a:solidFill>
                <a:srgbClr val="00004D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8220" y="4893941"/>
            <a:ext cx="2876867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TUJUAN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6210126"/>
            <a:ext cx="10781937" cy="1470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Merancang prototype sistem monitoring.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Mengintegrasikan data ADS-B dan Radar Cuaca.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Menerapkan konsep Sistem Basis Data Terdistribusi.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Menghasilkan rancangan yang dapat dikembangkan menjadi aplikasi operasional.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29105" y="1362014"/>
            <a:ext cx="5871135" cy="3014098"/>
            <a:chOff x="0" y="0"/>
            <a:chExt cx="1045115" cy="536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5115" cy="536536"/>
            </a:xfrm>
            <a:custGeom>
              <a:avLst/>
              <a:gdLst/>
              <a:ahLst/>
              <a:cxnLst/>
              <a:rect l="l" t="t" r="r" b="b"/>
              <a:pathLst>
                <a:path w="1045115" h="536536">
                  <a:moveTo>
                    <a:pt x="0" y="0"/>
                  </a:moveTo>
                  <a:lnTo>
                    <a:pt x="1045115" y="0"/>
                  </a:lnTo>
                  <a:lnTo>
                    <a:pt x="1045115" y="536536"/>
                  </a:lnTo>
                  <a:lnTo>
                    <a:pt x="0" y="536536"/>
                  </a:lnTo>
                  <a:close/>
                </a:path>
              </a:pathLst>
            </a:custGeom>
            <a:blipFill>
              <a:blip r:embed="rId2"/>
              <a:stretch>
                <a:fillRect l="-5854" t="-22486" b="-1488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259300" y="4900048"/>
            <a:ext cx="2128978" cy="5746713"/>
            <a:chOff x="0" y="0"/>
            <a:chExt cx="560719" cy="151353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0719" cy="1513538"/>
            </a:xfrm>
            <a:custGeom>
              <a:avLst/>
              <a:gdLst/>
              <a:ahLst/>
              <a:cxnLst/>
              <a:rect l="l" t="t" r="r" b="b"/>
              <a:pathLst>
                <a:path w="560719" h="1513538">
                  <a:moveTo>
                    <a:pt x="0" y="0"/>
                  </a:moveTo>
                  <a:lnTo>
                    <a:pt x="560719" y="0"/>
                  </a:lnTo>
                  <a:lnTo>
                    <a:pt x="560719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60719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59965" y="1778964"/>
            <a:ext cx="7597862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 dirty="0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LANDASAN TEORI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00" y="2825772"/>
            <a:ext cx="4501855" cy="53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b="1" dirty="0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KONSEP UTAMA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2600" y="3312074"/>
            <a:ext cx="7752586" cy="2285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3"/>
              </a:lnSpc>
            </a:pP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Sistem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Basis Data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Terdistribusi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adalah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kumpulan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basis data yang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tersebar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pada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beberapa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lokasi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atau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server yang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saling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terhubung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melalui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jaringan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tetapi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bagi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pengguna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terlihat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sebagai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satu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kesatuan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sistem</a:t>
            </a:r>
            <a:r>
              <a:rPr lang="en-US" sz="24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>
              <a:lnSpc>
                <a:spcPts val="3583"/>
              </a:lnSpc>
            </a:pPr>
            <a:endParaRPr lang="en-US" sz="2799" dirty="0">
              <a:solidFill>
                <a:srgbClr val="00004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91373" y="8288580"/>
            <a:ext cx="5103978" cy="356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Referensi</a:t>
            </a: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: </a:t>
            </a:r>
            <a:r>
              <a:rPr lang="en-US" sz="21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Coulouris</a:t>
            </a: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et al. (2012)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1600" y="6014586"/>
            <a:ext cx="7023751" cy="221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 err="1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Konsep</a:t>
            </a: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 Utama SBDT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Distributed Data Source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Distributed Processing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Distributed Storage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Distributed Communication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dirty="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Distributed Visualization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B9996E5-A7B1-A754-433C-565C881BA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34153"/>
              </p:ext>
            </p:extLst>
          </p:nvPr>
        </p:nvGraphicFramePr>
        <p:xfrm>
          <a:off x="8001000" y="5295900"/>
          <a:ext cx="5943600" cy="4754556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3818060643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879014080"/>
                    </a:ext>
                  </a:extLst>
                </a:gridCol>
              </a:tblGrid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b="1" dirty="0" err="1">
                          <a:effectLst/>
                        </a:rPr>
                        <a:t>Teknologi</a:t>
                      </a:r>
                      <a:endParaRPr lang="en-ID" sz="2000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b="1" dirty="0" err="1">
                          <a:effectLst/>
                        </a:rPr>
                        <a:t>Fungsi</a:t>
                      </a:r>
                      <a:endParaRPr lang="en-ID" sz="2000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23798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ADS-B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 err="1">
                          <a:effectLst/>
                        </a:rPr>
                        <a:t>Sumber</a:t>
                      </a:r>
                      <a:r>
                        <a:rPr lang="en-ID" sz="2000" dirty="0">
                          <a:effectLst/>
                        </a:rPr>
                        <a:t> data </a:t>
                      </a:r>
                      <a:r>
                        <a:rPr lang="en-ID" sz="2000" dirty="0" err="1">
                          <a:effectLst/>
                        </a:rPr>
                        <a:t>posisi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pesawat</a:t>
                      </a:r>
                      <a:endParaRPr lang="en-ID" sz="2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97188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Radar BMKG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 err="1">
                          <a:effectLst/>
                        </a:rPr>
                        <a:t>Sumber</a:t>
                      </a:r>
                      <a:r>
                        <a:rPr lang="en-ID" sz="2000" dirty="0">
                          <a:effectLst/>
                        </a:rPr>
                        <a:t> data </a:t>
                      </a:r>
                      <a:r>
                        <a:rPr lang="en-ID" sz="2000" dirty="0" err="1">
                          <a:effectLst/>
                        </a:rPr>
                        <a:t>cuaca</a:t>
                      </a:r>
                      <a:endParaRPr lang="en-ID" sz="2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85900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>
                          <a:effectLst/>
                        </a:rPr>
                        <a:t>Redis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 err="1">
                          <a:effectLst/>
                        </a:rPr>
                        <a:t>Penyimpanan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sementara</a:t>
                      </a:r>
                      <a:r>
                        <a:rPr lang="en-ID" sz="2000" dirty="0">
                          <a:effectLst/>
                        </a:rPr>
                        <a:t> (cache)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652785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PostgreSQL/PostGIS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 err="1">
                          <a:effectLst/>
                        </a:rPr>
                        <a:t>Penyimpanan</a:t>
                      </a:r>
                      <a:r>
                        <a:rPr lang="en-ID" sz="2000" dirty="0">
                          <a:effectLst/>
                        </a:rPr>
                        <a:t> </a:t>
                      </a:r>
                      <a:r>
                        <a:rPr lang="en-ID" sz="2000" dirty="0" err="1">
                          <a:effectLst/>
                        </a:rPr>
                        <a:t>permanen</a:t>
                      </a:r>
                      <a:r>
                        <a:rPr lang="en-ID" sz="2000" dirty="0">
                          <a:effectLst/>
                        </a:rPr>
                        <a:t> dan data </a:t>
                      </a:r>
                      <a:r>
                        <a:rPr lang="en-ID" sz="2000" dirty="0" err="1">
                          <a:effectLst/>
                        </a:rPr>
                        <a:t>spasial</a:t>
                      </a:r>
                      <a:endParaRPr lang="en-ID" sz="20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519095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WebSocket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Komunikasi real-time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257146"/>
                  </a:ext>
                </a:extLst>
              </a:tr>
              <a:tr h="6326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>
                          <a:effectLst/>
                        </a:rPr>
                        <a:t>WebGIS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ID" sz="2000" dirty="0" err="1">
                          <a:effectLst/>
                        </a:rPr>
                        <a:t>Visualisasi</a:t>
                      </a:r>
                      <a:r>
                        <a:rPr lang="en-ID" sz="2000" dirty="0">
                          <a:effectLst/>
                        </a:rPr>
                        <a:t> data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22773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24264" y="1436663"/>
            <a:ext cx="7563736" cy="3054280"/>
            <a:chOff x="0" y="0"/>
            <a:chExt cx="1448888" cy="5850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8888" cy="585069"/>
            </a:xfrm>
            <a:custGeom>
              <a:avLst/>
              <a:gdLst/>
              <a:ahLst/>
              <a:cxnLst/>
              <a:rect l="l" t="t" r="r" b="b"/>
              <a:pathLst>
                <a:path w="1448888" h="585069">
                  <a:moveTo>
                    <a:pt x="0" y="0"/>
                  </a:moveTo>
                  <a:lnTo>
                    <a:pt x="1448888" y="0"/>
                  </a:lnTo>
                  <a:lnTo>
                    <a:pt x="1448888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3"/>
              <a:stretch>
                <a:fillRect t="-32496" b="-3249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-604331"/>
            <a:ext cx="9659281" cy="1633031"/>
            <a:chOff x="0" y="0"/>
            <a:chExt cx="2544008" cy="4300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13698" y="2564603"/>
            <a:ext cx="9437629" cy="1108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METODOLOGI PENELITIAN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37857" y="5258125"/>
            <a:ext cx="4728270" cy="4500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STUDI LITERATUR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        ↓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ANALISIS KEBUTUHAN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        ↓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PERANCANGAN SISTEM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        ↓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IMPLEMENTASI PROTOTYPE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        ↓</a:t>
            </a:r>
          </a:p>
          <a:p>
            <a:pPr algn="ctr">
              <a:lnSpc>
                <a:spcPts val="3916"/>
              </a:lnSpc>
              <a:spcBef>
                <a:spcPct val="0"/>
              </a:spcBef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ANALISIS &amp; EVALUASI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95361" y="4316035"/>
            <a:ext cx="14893562" cy="369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1. Studi Literatur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Mengumpulkan referensi mengenai SBDT, ADS-B, Radar Cuaca, WebGIS, Redis, PostgreSQL/PostGIS, dan WebSocket.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2. Analisis Kebutuhan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Mengidentifikasi kebutuhan fungsional dan nonfungsional sistem.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3. Perancangan Sistem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Merancang arsitektur, basis data, UML, dan prototype antarmuka.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4. Implementasi Prototype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Menyusun prototype sesuai konsep Sistem Basis Data Terdistribusi.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5. Analisis dan Evaluasi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Mengevaluasi kesesuaian prototype dengan tujuan penelitian.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144000" y="-604331"/>
            <a:ext cx="9659281" cy="1633031"/>
            <a:chOff x="0" y="0"/>
            <a:chExt cx="2544008" cy="430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100278" y="5341432"/>
            <a:ext cx="2128978" cy="5746713"/>
            <a:chOff x="0" y="0"/>
            <a:chExt cx="560719" cy="15135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0719" cy="1513538"/>
            </a:xfrm>
            <a:custGeom>
              <a:avLst/>
              <a:gdLst/>
              <a:ahLst/>
              <a:cxnLst/>
              <a:rect l="l" t="t" r="r" b="b"/>
              <a:pathLst>
                <a:path w="560719" h="1513538">
                  <a:moveTo>
                    <a:pt x="0" y="0"/>
                  </a:moveTo>
                  <a:lnTo>
                    <a:pt x="560719" y="0"/>
                  </a:lnTo>
                  <a:lnTo>
                    <a:pt x="560719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0719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224073" y="3657266"/>
            <a:ext cx="4108225" cy="6353418"/>
          </a:xfrm>
          <a:custGeom>
            <a:avLst/>
            <a:gdLst/>
            <a:ahLst/>
            <a:cxnLst/>
            <a:rect l="l" t="t" r="r" b="b"/>
            <a:pathLst>
              <a:path w="4108225" h="6353418">
                <a:moveTo>
                  <a:pt x="0" y="0"/>
                </a:moveTo>
                <a:lnTo>
                  <a:pt x="4108224" y="0"/>
                </a:lnTo>
                <a:lnTo>
                  <a:pt x="4108224" y="6353418"/>
                </a:lnTo>
                <a:lnTo>
                  <a:pt x="0" y="6353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13698" y="2484494"/>
            <a:ext cx="7530302" cy="956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ARSITEKTUR SISTEM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75824" y="5692928"/>
            <a:ext cx="4501855" cy="53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6"/>
              </a:lnSpc>
            </a:pPr>
            <a:r>
              <a:rPr lang="en-US" sz="2797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PENJELASAN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6406679"/>
            <a:ext cx="6958077" cy="221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3483" lvl="1" indent="-251742" algn="l">
              <a:lnSpc>
                <a:spcPts val="2984"/>
              </a:lnSpc>
              <a:buFont typeface="Arial"/>
              <a:buChar char="•"/>
            </a:pPr>
            <a:r>
              <a:rPr lang="en-US" sz="2332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Data berasal dari dua sumber berbeda.</a:t>
            </a:r>
          </a:p>
          <a:p>
            <a:pPr marL="503483" lvl="1" indent="-251742" algn="l">
              <a:lnSpc>
                <a:spcPts val="2984"/>
              </a:lnSpc>
              <a:buFont typeface="Arial"/>
              <a:buChar char="•"/>
            </a:pPr>
            <a:r>
              <a:rPr lang="en-US" sz="2332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Diproses oleh Fusion Engine.</a:t>
            </a:r>
          </a:p>
          <a:p>
            <a:pPr marL="503483" lvl="1" indent="-251742" algn="l">
              <a:lnSpc>
                <a:spcPts val="2984"/>
              </a:lnSpc>
              <a:buFont typeface="Arial"/>
              <a:buChar char="•"/>
            </a:pPr>
            <a:r>
              <a:rPr lang="en-US" sz="2332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Disimpan pada Redis dan PostgreSQL/PostGIS.</a:t>
            </a:r>
          </a:p>
          <a:p>
            <a:pPr marL="503483" lvl="1" indent="-251742" algn="l">
              <a:lnSpc>
                <a:spcPts val="2984"/>
              </a:lnSpc>
              <a:buFont typeface="Arial"/>
              <a:buChar char="•"/>
            </a:pPr>
            <a:r>
              <a:rPr lang="en-US" sz="2332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Dikirim secara real-time melalui WebSocket.</a:t>
            </a:r>
          </a:p>
          <a:p>
            <a:pPr marL="503483" lvl="1" indent="-251742" algn="l">
              <a:lnSpc>
                <a:spcPts val="2984"/>
              </a:lnSpc>
              <a:buFont typeface="Arial"/>
              <a:buChar char="•"/>
            </a:pPr>
            <a:r>
              <a:rPr lang="en-US" sz="2332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Ditampilkan pada WebGIS.</a:t>
            </a:r>
          </a:p>
          <a:p>
            <a:pPr algn="l">
              <a:lnSpc>
                <a:spcPts val="2984"/>
              </a:lnSpc>
            </a:pPr>
            <a:endParaRPr lang="en-US" sz="2332">
              <a:solidFill>
                <a:srgbClr val="00004D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417368" y="5525581"/>
            <a:ext cx="5905342" cy="3054280"/>
            <a:chOff x="0" y="0"/>
            <a:chExt cx="1131211" cy="5850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1211" cy="585069"/>
            </a:xfrm>
            <a:custGeom>
              <a:avLst/>
              <a:gdLst/>
              <a:ahLst/>
              <a:cxnLst/>
              <a:rect l="l" t="t" r="r" b="b"/>
              <a:pathLst>
                <a:path w="1131211" h="585069">
                  <a:moveTo>
                    <a:pt x="0" y="0"/>
                  </a:moveTo>
                  <a:lnTo>
                    <a:pt x="1131211" y="0"/>
                  </a:lnTo>
                  <a:lnTo>
                    <a:pt x="1131211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3"/>
              <a:stretch>
                <a:fillRect t="-2881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259300" y="-670116"/>
            <a:ext cx="2128978" cy="4279689"/>
            <a:chOff x="0" y="0"/>
            <a:chExt cx="560719" cy="11271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0719" cy="1127161"/>
            </a:xfrm>
            <a:custGeom>
              <a:avLst/>
              <a:gdLst/>
              <a:ahLst/>
              <a:cxnLst/>
              <a:rect l="l" t="t" r="r" b="b"/>
              <a:pathLst>
                <a:path w="560719" h="1127161">
                  <a:moveTo>
                    <a:pt x="0" y="0"/>
                  </a:moveTo>
                  <a:lnTo>
                    <a:pt x="560719" y="0"/>
                  </a:lnTo>
                  <a:lnTo>
                    <a:pt x="560719" y="1127161"/>
                  </a:lnTo>
                  <a:lnTo>
                    <a:pt x="0" y="1127161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60719" cy="1165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69439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72982" y="2903612"/>
            <a:ext cx="11313552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 IMPLEMENTASI KONSEP SBDT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5C5A63B-4CCA-4416-F9EE-D89F90223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18293"/>
              </p:ext>
            </p:extLst>
          </p:nvPr>
        </p:nvGraphicFramePr>
        <p:xfrm>
          <a:off x="1028700" y="4444688"/>
          <a:ext cx="8229600" cy="3889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89564527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4371592"/>
                    </a:ext>
                  </a:extLst>
                </a:gridCol>
              </a:tblGrid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 b="1" dirty="0" err="1">
                          <a:effectLst/>
                        </a:rPr>
                        <a:t>Konsep</a:t>
                      </a:r>
                      <a:endParaRPr lang="en-ID" sz="1500" b="1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 b="1">
                          <a:effectLst/>
                        </a:rPr>
                        <a:t>Implementasi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611409"/>
                  </a:ext>
                </a:extLst>
              </a:tr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 dirty="0">
                          <a:effectLst/>
                        </a:rPr>
                        <a:t>Distributed Data Source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ADS-B &amp; Radar BMKG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980956"/>
                  </a:ext>
                </a:extLst>
              </a:tr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Distributed Processing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Fusion Engine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64648"/>
                  </a:ext>
                </a:extLst>
              </a:tr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Distributed Storage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Redis + PostgreSQL/PostGIS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468006"/>
                  </a:ext>
                </a:extLst>
              </a:tr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Distributed Communication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WebSocket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39218"/>
                  </a:ext>
                </a:extLst>
              </a:tr>
              <a:tr h="648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>
                          <a:effectLst/>
                        </a:rPr>
                        <a:t>Distributed Visualization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500" dirty="0" err="1">
                          <a:effectLst/>
                        </a:rPr>
                        <a:t>WebGIS</a:t>
                      </a:r>
                      <a:endParaRPr lang="en-ID" sz="150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5041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-670116"/>
            <a:ext cx="2128978" cy="4279689"/>
            <a:chOff x="0" y="0"/>
            <a:chExt cx="560719" cy="11271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0719" cy="1127161"/>
            </a:xfrm>
            <a:custGeom>
              <a:avLst/>
              <a:gdLst/>
              <a:ahLst/>
              <a:cxnLst/>
              <a:rect l="l" t="t" r="r" b="b"/>
              <a:pathLst>
                <a:path w="560719" h="1127161">
                  <a:moveTo>
                    <a:pt x="0" y="0"/>
                  </a:moveTo>
                  <a:lnTo>
                    <a:pt x="560719" y="0"/>
                  </a:lnTo>
                  <a:lnTo>
                    <a:pt x="560719" y="1127161"/>
                  </a:lnTo>
                  <a:lnTo>
                    <a:pt x="0" y="1127161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0719" cy="1165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069439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493909" y="4060214"/>
            <a:ext cx="10626842" cy="5014541"/>
          </a:xfrm>
          <a:custGeom>
            <a:avLst/>
            <a:gdLst/>
            <a:ahLst/>
            <a:cxnLst/>
            <a:rect l="l" t="t" r="r" b="b"/>
            <a:pathLst>
              <a:path w="10626842" h="5014541">
                <a:moveTo>
                  <a:pt x="0" y="0"/>
                </a:moveTo>
                <a:lnTo>
                  <a:pt x="10626841" y="0"/>
                </a:lnTo>
                <a:lnTo>
                  <a:pt x="10626841" y="5014541"/>
                </a:lnTo>
                <a:lnTo>
                  <a:pt x="0" y="501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314360" y="2250096"/>
            <a:ext cx="12678118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HASIL PERANCANGAN PROTOTYPE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727" y="4022114"/>
            <a:ext cx="5310442" cy="270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3"/>
              </a:lnSpc>
              <a:spcBef>
                <a:spcPct val="0"/>
              </a:spcBef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Tampilkan beberapa gambar prototype:</a:t>
            </a:r>
          </a:p>
          <a:p>
            <a:pPr algn="l">
              <a:lnSpc>
                <a:spcPts val="3083"/>
              </a:lnSpc>
              <a:spcBef>
                <a:spcPct val="0"/>
              </a:spcBef>
            </a:pPr>
            <a:endParaRPr lang="en-US" sz="2202">
              <a:solidFill>
                <a:srgbClr val="00004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75582" lvl="1" indent="-237791" algn="l">
              <a:lnSpc>
                <a:spcPts val="3083"/>
              </a:lnSpc>
              <a:buFont typeface="Arial"/>
              <a:buChar char="•"/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Halaman Login</a:t>
            </a:r>
          </a:p>
          <a:p>
            <a:pPr marL="475582" lvl="1" indent="-237791" algn="l">
              <a:lnSpc>
                <a:spcPts val="3083"/>
              </a:lnSpc>
              <a:buFont typeface="Arial"/>
              <a:buChar char="•"/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Dashboard Monitoring</a:t>
            </a:r>
          </a:p>
          <a:p>
            <a:pPr marL="475582" lvl="1" indent="-237791" algn="l">
              <a:lnSpc>
                <a:spcPts val="3083"/>
              </a:lnSpc>
              <a:buFont typeface="Arial"/>
              <a:buChar char="•"/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Peta WebGIS</a:t>
            </a:r>
          </a:p>
          <a:p>
            <a:pPr marL="475582" lvl="1" indent="-237791" algn="l">
              <a:lnSpc>
                <a:spcPts val="3083"/>
              </a:lnSpc>
              <a:buFont typeface="Arial"/>
              <a:buChar char="•"/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Integrasi Data Pesawat &amp; Radar</a:t>
            </a:r>
          </a:p>
          <a:p>
            <a:pPr algn="l">
              <a:lnSpc>
                <a:spcPts val="3083"/>
              </a:lnSpc>
              <a:spcBef>
                <a:spcPct val="0"/>
              </a:spcBef>
            </a:pPr>
            <a:r>
              <a:rPr lang="en-US" sz="2202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59300" y="-670116"/>
            <a:ext cx="2128978" cy="4279689"/>
            <a:chOff x="0" y="0"/>
            <a:chExt cx="560719" cy="112716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0719" cy="1127161"/>
            </a:xfrm>
            <a:custGeom>
              <a:avLst/>
              <a:gdLst/>
              <a:ahLst/>
              <a:cxnLst/>
              <a:rect l="l" t="t" r="r" b="b"/>
              <a:pathLst>
                <a:path w="560719" h="1127161">
                  <a:moveTo>
                    <a:pt x="0" y="0"/>
                  </a:moveTo>
                  <a:lnTo>
                    <a:pt x="560719" y="0"/>
                  </a:lnTo>
                  <a:lnTo>
                    <a:pt x="560719" y="1127161"/>
                  </a:lnTo>
                  <a:lnTo>
                    <a:pt x="0" y="1127161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60719" cy="1165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28700" y="1069439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14360" y="2250096"/>
            <a:ext cx="11313552" cy="1116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09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ANALISIS DAN PEMBAHASAN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90273" y="3767978"/>
            <a:ext cx="9180711" cy="547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6"/>
              </a:lnSpc>
              <a:spcBef>
                <a:spcPct val="0"/>
              </a:spcBef>
            </a:pPr>
            <a:r>
              <a:rPr lang="en-US" sz="2590" b="1">
                <a:solidFill>
                  <a:srgbClr val="0000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Kelebihan</a:t>
            </a:r>
          </a:p>
          <a:p>
            <a:pPr marL="559328" lvl="1" indent="-279664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Integrasi dua sumber data.</a:t>
            </a:r>
          </a:p>
          <a:p>
            <a:pPr marL="559328" lvl="1" indent="-279664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Arsitektur terdistribusi.</a:t>
            </a:r>
          </a:p>
          <a:p>
            <a:pPr marL="559328" lvl="1" indent="-279664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Penyimpanan terpisah sesuai fungsi.</a:t>
            </a:r>
          </a:p>
          <a:p>
            <a:pPr marL="559328" lvl="1" indent="-279664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Komunikasi real-time.</a:t>
            </a:r>
          </a:p>
          <a:p>
            <a:pPr marL="559328" lvl="1" indent="-279664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Bisa dikembangkan dengan AI</a:t>
            </a:r>
          </a:p>
          <a:p>
            <a:pPr algn="l">
              <a:lnSpc>
                <a:spcPts val="3626"/>
              </a:lnSpc>
            </a:pPr>
            <a:endParaRPr lang="en-US" sz="2590">
              <a:solidFill>
                <a:srgbClr val="00004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626"/>
              </a:lnSpc>
            </a:pPr>
            <a:r>
              <a:rPr lang="en-US" sz="2590" b="1">
                <a:solidFill>
                  <a:srgbClr val="0000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Keterbatasan</a:t>
            </a:r>
          </a:p>
          <a:p>
            <a:pPr marL="559328" lvl="1" indent="-279664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Masih berupa prototype.</a:t>
            </a:r>
          </a:p>
          <a:p>
            <a:pPr marL="559328" lvl="1" indent="-279664" algn="l">
              <a:lnSpc>
                <a:spcPts val="3626"/>
              </a:lnSpc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Belum dilakukan pengujian performa.</a:t>
            </a:r>
          </a:p>
          <a:p>
            <a:pPr marL="559328" lvl="1" indent="-279664" algn="l">
              <a:lnSpc>
                <a:spcPts val="3626"/>
              </a:lnSpc>
              <a:spcBef>
                <a:spcPct val="0"/>
              </a:spcBef>
              <a:buFont typeface="Arial"/>
              <a:buChar char="•"/>
            </a:pPr>
            <a:r>
              <a:rPr lang="en-US" sz="259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Belum terhubung langsung dengan server operasional.</a:t>
            </a:r>
          </a:p>
          <a:p>
            <a:pPr algn="l">
              <a:lnSpc>
                <a:spcPts val="3626"/>
              </a:lnSpc>
              <a:spcBef>
                <a:spcPct val="0"/>
              </a:spcBef>
            </a:pPr>
            <a:endParaRPr lang="en-US" sz="2590">
              <a:solidFill>
                <a:srgbClr val="00004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364827" y="3657149"/>
            <a:ext cx="6692687" cy="7036827"/>
            <a:chOff x="0" y="0"/>
            <a:chExt cx="1036872" cy="109018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36872" cy="1090189"/>
            </a:xfrm>
            <a:custGeom>
              <a:avLst/>
              <a:gdLst/>
              <a:ahLst/>
              <a:cxnLst/>
              <a:rect l="l" t="t" r="r" b="b"/>
              <a:pathLst>
                <a:path w="1036872" h="1090189">
                  <a:moveTo>
                    <a:pt x="0" y="0"/>
                  </a:moveTo>
                  <a:lnTo>
                    <a:pt x="1036872" y="0"/>
                  </a:lnTo>
                  <a:lnTo>
                    <a:pt x="1036872" y="1090189"/>
                  </a:lnTo>
                  <a:lnTo>
                    <a:pt x="0" y="1090189"/>
                  </a:lnTo>
                  <a:close/>
                </a:path>
              </a:pathLst>
            </a:custGeom>
            <a:blipFill>
              <a:blip r:embed="rId3"/>
              <a:stretch>
                <a:fillRect t="-41930" b="-82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144000" y="-604331"/>
            <a:ext cx="9659281" cy="1633031"/>
            <a:chOff x="0" y="0"/>
            <a:chExt cx="2544008" cy="4300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13698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5" y="0"/>
                </a:lnTo>
                <a:lnTo>
                  <a:pt x="2505345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13698" y="2717003"/>
            <a:ext cx="6203747" cy="1804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KESIMPULAN</a:t>
            </a:r>
          </a:p>
          <a:p>
            <a:pPr algn="l">
              <a:lnSpc>
                <a:spcPts val="6545"/>
              </a:lnSpc>
            </a:pPr>
            <a:r>
              <a:rPr lang="en-US" sz="5792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TUGAS AKHIR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0951" y="4406971"/>
            <a:ext cx="9758398" cy="376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623" b="1">
                <a:solidFill>
                  <a:srgbClr val="00004D"/>
                </a:solidFill>
                <a:latin typeface="Rosario Bold"/>
                <a:ea typeface="Rosario Bold"/>
                <a:cs typeface="Rosario Bold"/>
                <a:sym typeface="Rosario Bold"/>
              </a:rPr>
              <a:t>Kesimpulan</a:t>
            </a:r>
          </a:p>
          <a:p>
            <a:pPr marL="566409" lvl="1" indent="-283204" algn="l">
              <a:lnSpc>
                <a:spcPts val="3358"/>
              </a:lnSpc>
              <a:buFont typeface="Arial"/>
              <a:buChar char="•"/>
            </a:pPr>
            <a:r>
              <a:rPr lang="en-US" sz="2623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rototype sistem monitoring berhasil dirancang.</a:t>
            </a:r>
          </a:p>
          <a:p>
            <a:pPr marL="566409" lvl="1" indent="-283204" algn="l">
              <a:lnSpc>
                <a:spcPts val="3358"/>
              </a:lnSpc>
              <a:buFont typeface="Arial"/>
              <a:buChar char="•"/>
            </a:pPr>
            <a:r>
              <a:rPr lang="en-US" sz="2623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Konsep Sistem Basis Data Terdistribusi berhasil diterapkan.</a:t>
            </a:r>
          </a:p>
          <a:p>
            <a:pPr marL="566409" lvl="1" indent="-283204" algn="l">
              <a:lnSpc>
                <a:spcPts val="3358"/>
              </a:lnSpc>
              <a:buFont typeface="Arial"/>
              <a:buChar char="•"/>
            </a:pPr>
            <a:r>
              <a:rPr lang="en-US" sz="2623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Integrasi ADS-B dan Radar Cuaca dapat diwujudkan dalam satu platform WebGIS.</a:t>
            </a:r>
          </a:p>
          <a:p>
            <a:pPr marL="566409" lvl="1" indent="-283204" algn="l">
              <a:lnSpc>
                <a:spcPts val="3358"/>
              </a:lnSpc>
              <a:buFont typeface="Arial"/>
              <a:buChar char="•"/>
            </a:pPr>
            <a:r>
              <a:rPr lang="en-US" sz="2623">
                <a:solidFill>
                  <a:srgbClr val="00004D"/>
                </a:solidFill>
                <a:latin typeface="Rosario"/>
                <a:ea typeface="Rosario"/>
                <a:cs typeface="Rosario"/>
                <a:sym typeface="Rosario"/>
              </a:rPr>
              <a:t>Rancangan ini dapat menjadi dasar pengembangan sistem monitoring penerbangan yang lebih komprehensif.</a:t>
            </a:r>
          </a:p>
          <a:p>
            <a:pPr algn="l">
              <a:lnSpc>
                <a:spcPts val="3358"/>
              </a:lnSpc>
            </a:pPr>
            <a:endParaRPr lang="en-US" sz="2623">
              <a:solidFill>
                <a:srgbClr val="00004D"/>
              </a:solidFill>
              <a:latin typeface="Rosario"/>
              <a:ea typeface="Rosario"/>
              <a:cs typeface="Rosario"/>
              <a:sym typeface="Rosario"/>
            </a:endParaRPr>
          </a:p>
          <a:p>
            <a:pPr algn="l">
              <a:lnSpc>
                <a:spcPts val="3358"/>
              </a:lnSpc>
            </a:pPr>
            <a:endParaRPr lang="en-US" sz="2623">
              <a:solidFill>
                <a:srgbClr val="00004D"/>
              </a:solidFill>
              <a:latin typeface="Rosario"/>
              <a:ea typeface="Rosario"/>
              <a:cs typeface="Rosario"/>
              <a:sym typeface="Rosari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02418" y="7790809"/>
            <a:ext cx="8578980" cy="1841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 b="1">
                <a:solidFill>
                  <a:srgbClr val="00004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Saran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Mengembangkan prototype menjadi aplikasi operasional.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Mengintegrasikan data secara langsung dari ADS-B dan BMKG.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Melakukan pengujian performa, skalabilitas, dan keamanan.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4D"/>
                </a:solidFill>
                <a:latin typeface="Canva Sans"/>
                <a:ea typeface="Canva Sans"/>
                <a:cs typeface="Canva Sans"/>
                <a:sym typeface="Canva Sans"/>
              </a:rPr>
              <a:t>Menambahkan fitur analitik dan prediksi cuaca.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734021" y="-2137140"/>
            <a:ext cx="2128978" cy="5746713"/>
            <a:chOff x="0" y="0"/>
            <a:chExt cx="560719" cy="15135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0719" cy="1513538"/>
            </a:xfrm>
            <a:custGeom>
              <a:avLst/>
              <a:gdLst/>
              <a:ahLst/>
              <a:cxnLst/>
              <a:rect l="l" t="t" r="r" b="b"/>
              <a:pathLst>
                <a:path w="560719" h="1513538">
                  <a:moveTo>
                    <a:pt x="0" y="0"/>
                  </a:moveTo>
                  <a:lnTo>
                    <a:pt x="560719" y="0"/>
                  </a:lnTo>
                  <a:lnTo>
                    <a:pt x="560719" y="1513538"/>
                  </a:lnTo>
                  <a:lnTo>
                    <a:pt x="0" y="1513538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60719" cy="15516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515281" y="9258300"/>
            <a:ext cx="9659281" cy="1633031"/>
            <a:chOff x="0" y="0"/>
            <a:chExt cx="2544008" cy="4300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44008" cy="430099"/>
            </a:xfrm>
            <a:custGeom>
              <a:avLst/>
              <a:gdLst/>
              <a:ahLst/>
              <a:cxnLst/>
              <a:rect l="l" t="t" r="r" b="b"/>
              <a:pathLst>
                <a:path w="2544008" h="430099">
                  <a:moveTo>
                    <a:pt x="0" y="0"/>
                  </a:moveTo>
                  <a:lnTo>
                    <a:pt x="2544008" y="0"/>
                  </a:lnTo>
                  <a:lnTo>
                    <a:pt x="2544008" y="430099"/>
                  </a:lnTo>
                  <a:lnTo>
                    <a:pt x="0" y="430099"/>
                  </a:lnTo>
                  <a:close/>
                </a:path>
              </a:pathLst>
            </a:custGeom>
            <a:solidFill>
              <a:srgbClr val="00004D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44008" cy="468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14241" y="4240380"/>
            <a:ext cx="6748758" cy="3776440"/>
            <a:chOff x="0" y="0"/>
            <a:chExt cx="1045559" cy="5850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5559" cy="585069"/>
            </a:xfrm>
            <a:custGeom>
              <a:avLst/>
              <a:gdLst/>
              <a:ahLst/>
              <a:cxnLst/>
              <a:rect l="l" t="t" r="r" b="b"/>
              <a:pathLst>
                <a:path w="1045559" h="585069">
                  <a:moveTo>
                    <a:pt x="0" y="0"/>
                  </a:moveTo>
                  <a:lnTo>
                    <a:pt x="1045559" y="0"/>
                  </a:lnTo>
                  <a:lnTo>
                    <a:pt x="1045559" y="585069"/>
                  </a:lnTo>
                  <a:lnTo>
                    <a:pt x="0" y="585069"/>
                  </a:lnTo>
                  <a:close/>
                </a:path>
              </a:pathLst>
            </a:custGeom>
            <a:blipFill>
              <a:blip r:embed="rId3"/>
              <a:stretch>
                <a:fillRect l="-5809" t="-12464" b="-13709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505346" cy="1409257"/>
          </a:xfrm>
          <a:custGeom>
            <a:avLst/>
            <a:gdLst/>
            <a:ahLst/>
            <a:cxnLst/>
            <a:rect l="l" t="t" r="r" b="b"/>
            <a:pathLst>
              <a:path w="2505346" h="1409257">
                <a:moveTo>
                  <a:pt x="0" y="0"/>
                </a:moveTo>
                <a:lnTo>
                  <a:pt x="2505346" y="0"/>
                </a:lnTo>
                <a:lnTo>
                  <a:pt x="2505346" y="1409257"/>
                </a:lnTo>
                <a:lnTo>
                  <a:pt x="0" y="1409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944950" y="5660368"/>
            <a:ext cx="6199050" cy="87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9"/>
              </a:lnSpc>
            </a:pPr>
            <a:r>
              <a:rPr lang="en-US" sz="4557">
                <a:solidFill>
                  <a:srgbClr val="00004D"/>
                </a:solidFill>
                <a:latin typeface="Neo Tech"/>
                <a:ea typeface="Neo Tech"/>
                <a:cs typeface="Neo Tech"/>
                <a:sym typeface="Neo Tech"/>
              </a:rPr>
              <a:t>ATAS PERHATIANNYA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8366" y="4376522"/>
            <a:ext cx="7451988" cy="1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77"/>
              </a:lnSpc>
            </a:pPr>
            <a:r>
              <a:rPr lang="en-US" sz="7698" b="1">
                <a:solidFill>
                  <a:srgbClr val="00004D"/>
                </a:solidFill>
                <a:latin typeface="Neo Tech Bold"/>
                <a:ea typeface="Neo Tech Bold"/>
                <a:cs typeface="Neo Tech Bold"/>
                <a:sym typeface="Neo Tech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539</Words>
  <Application>Microsoft Office PowerPoint</Application>
  <PresentationFormat>Custom</PresentationFormat>
  <Paragraphs>122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Neo Tech</vt:lpstr>
      <vt:lpstr>Canva Sans</vt:lpstr>
      <vt:lpstr>Rosario Bold</vt:lpstr>
      <vt:lpstr>Canva Sans Bold</vt:lpstr>
      <vt:lpstr>Calibri</vt:lpstr>
      <vt:lpstr>Neo Tech Bold</vt:lpstr>
      <vt:lpstr>Rosario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Tugas Akhir Presentation</dc:title>
  <cp:lastModifiedBy>Fris Setiawan</cp:lastModifiedBy>
  <cp:revision>2</cp:revision>
  <dcterms:created xsi:type="dcterms:W3CDTF">2006-08-16T00:00:00Z</dcterms:created>
  <dcterms:modified xsi:type="dcterms:W3CDTF">2026-07-17T05:57:34Z</dcterms:modified>
  <dc:identifier>DAHPmzNuJ84</dc:identifier>
</cp:coreProperties>
</file>